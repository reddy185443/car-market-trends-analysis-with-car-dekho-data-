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3"/>
  </p:notesMasterIdLst>
  <p:handoutMasterIdLst>
    <p:handoutMasterId r:id="rId14"/>
  </p:handoutMasterIdLst>
  <p:sldIdLst>
    <p:sldId id="338" r:id="rId5"/>
    <p:sldId id="327" r:id="rId6"/>
    <p:sldId id="315" r:id="rId7"/>
    <p:sldId id="329" r:id="rId8"/>
    <p:sldId id="302" r:id="rId9"/>
    <p:sldId id="339" r:id="rId10"/>
    <p:sldId id="340" r:id="rId11"/>
    <p:sldId id="30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63F7A3-3100-44CB-810B-E3EBD6282998}" v="355" dt="2026-09-07T17:09:39.11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image" Target="../media/image1.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2.jfif"/><Relationship Id="rId1" Type="http://schemas.openxmlformats.org/officeDocument/2006/relationships/slideLayout" Target="../slideLayouts/slideLayout19.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2.jfif"/><Relationship Id="rId1" Type="http://schemas.openxmlformats.org/officeDocument/2006/relationships/slideLayout" Target="../slideLayouts/slideLayout1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285462" y="3999467"/>
            <a:ext cx="3427498" cy="861497"/>
          </a:xfrm>
        </p:spPr>
        <p:txBody>
          <a:bodyPr vert="horz" lIns="91440" tIns="45720" rIns="91440" bIns="45720" rtlCol="0" anchor="t">
            <a:normAutofit/>
          </a:bodyPr>
          <a:lstStyle/>
          <a:p>
            <a:pPr algn="r"/>
            <a:r>
              <a:rPr lang="en-US" b="0" dirty="0">
                <a:solidFill>
                  <a:schemeClr val="tx1"/>
                </a:solidFill>
              </a:rPr>
              <a:t>MEESALA CHINNA REDDAIAH</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5651079" cy="743448"/>
          </a:xfrm>
        </p:spPr>
        <p:txBody>
          <a:bodyPr>
            <a:normAutofit fontScale="90000"/>
          </a:bodyPr>
          <a:lstStyle/>
          <a:p>
            <a:r>
              <a:rPr lang="en-GB" sz="3200" dirty="0"/>
              <a:t>Project Title - </a:t>
            </a:r>
            <a:r>
              <a:rPr lang="en-GB" sz="3200" dirty="0">
                <a:ea typeface="+mn-lt"/>
                <a:cs typeface="+mn-lt"/>
              </a:rPr>
              <a:t>Car Market Trends Analysis with Car Dekho Data</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3" name="TextBox 2">
            <a:extLst>
              <a:ext uri="{FF2B5EF4-FFF2-40B4-BE49-F238E27FC236}">
                <a16:creationId xmlns:a16="http://schemas.microsoft.com/office/drawing/2014/main" id="{17F04107-8754-E47D-3375-529E689711FA}"/>
              </a:ext>
            </a:extLst>
          </p:cNvPr>
          <p:cNvSpPr txBox="1"/>
          <p:nvPr/>
        </p:nvSpPr>
        <p:spPr>
          <a:xfrm>
            <a:off x="6312871" y="3239938"/>
            <a:ext cx="6843829" cy="369332"/>
          </a:xfrm>
          <a:prstGeom prst="rect">
            <a:avLst/>
          </a:prstGeom>
          <a:noFill/>
        </p:spPr>
        <p:txBody>
          <a:bodyPr wrap="square" lIns="91440" tIns="45720" rIns="91440" bIns="45720" rtlCol="0" anchor="t">
            <a:spAutoFit/>
          </a:bodyPr>
          <a:lstStyle/>
          <a:p>
            <a:r>
              <a:rPr lang="en-US" b="1" dirty="0"/>
              <a:t>AICTE STU ID : </a:t>
            </a:r>
            <a:r>
              <a:rPr lang="en-US" dirty="0">
                <a:ea typeface="+mn-lt"/>
                <a:cs typeface="+mn-lt"/>
              </a:rPr>
              <a:t>STU6a5fa4510cde41784652881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85000" lnSpcReduction="20000"/>
          </a:bodyPr>
          <a:lstStyle/>
          <a:p>
            <a:pPr>
              <a:lnSpc>
                <a:spcPct val="150000"/>
              </a:lnSpc>
            </a:pPr>
            <a:r>
              <a:rPr lang="en-US" sz="1700" dirty="0">
                <a:solidFill>
                  <a:srgbClr val="18183A"/>
                </a:solidFill>
                <a:latin typeface="Aptos"/>
              </a:rPr>
              <a:t>Used-car prices can differ according to vehicle age, present price, fuel type, seller type, transmission and usage. This  project analyzes the supplied Car Dekho dataset to identify observable price patterns and communicate them through clear visualizations.</a:t>
            </a:r>
            <a:endParaRPr lang="en-IN" sz="1700" dirty="0">
              <a:solidFill>
                <a:srgbClr val="000000"/>
              </a:solidFill>
              <a:latin typeface="Aptos"/>
            </a:endParaRPr>
          </a:p>
          <a:p>
            <a:pPr>
              <a:lnSpc>
                <a:spcPct val="150000"/>
              </a:lnSpc>
            </a:pPr>
            <a:r>
              <a:rPr lang="en-US" sz="1900" b="1" dirty="0">
                <a:solidFill>
                  <a:srgbClr val="18183A"/>
                </a:solidFill>
                <a:latin typeface="Aptos"/>
              </a:rPr>
              <a:t>Key questions</a:t>
            </a:r>
            <a:endParaRPr lang="en-US" sz="1900" dirty="0">
              <a:solidFill>
                <a:srgbClr val="000000"/>
              </a:solidFill>
              <a:latin typeface="Aptos"/>
            </a:endParaRPr>
          </a:p>
          <a:p>
            <a:pPr>
              <a:lnSpc>
                <a:spcPct val="150000"/>
              </a:lnSpc>
            </a:pPr>
            <a:r>
              <a:rPr lang="en-US" sz="1700" dirty="0">
                <a:solidFill>
                  <a:srgbClr val="18183A"/>
                </a:solidFill>
                <a:latin typeface="Aptos"/>
              </a:rPr>
              <a:t>Which factors are associated with selling price?</a:t>
            </a:r>
            <a:endParaRPr lang="en-US" sz="1700" dirty="0">
              <a:solidFill>
                <a:srgbClr val="000000"/>
              </a:solidFill>
              <a:latin typeface="Aptos"/>
            </a:endParaRPr>
          </a:p>
          <a:p>
            <a:pPr>
              <a:lnSpc>
                <a:spcPct val="150000"/>
              </a:lnSpc>
            </a:pPr>
            <a:r>
              <a:rPr lang="en-US" sz="1800" dirty="0">
                <a:solidFill>
                  <a:srgbClr val="18183A"/>
                </a:solidFill>
                <a:latin typeface="Aptos"/>
              </a:rPr>
              <a:t>Which categories have higher average selling prices?</a:t>
            </a:r>
            <a:endParaRPr lang="en-US" sz="1800" dirty="0">
              <a:solidFill>
                <a:srgbClr val="000000"/>
              </a:solidFill>
              <a:latin typeface="Aptos"/>
            </a:endParaRPr>
          </a:p>
          <a:p>
            <a:pPr>
              <a:lnSpc>
                <a:spcPct val="150000"/>
              </a:lnSpc>
            </a:pPr>
            <a:r>
              <a:rPr lang="en-US" sz="1800" dirty="0">
                <a:solidFill>
                  <a:srgbClr val="18183A"/>
                </a:solidFill>
                <a:latin typeface="Aptos"/>
              </a:rPr>
              <a:t>How closely does present price relate to selling price?</a:t>
            </a:r>
            <a:endParaRPr lang="en-US" sz="1800" dirty="0">
              <a:solidFill>
                <a:srgbClr val="000000"/>
              </a:solidFill>
              <a:latin typeface="Aptos"/>
            </a:endParaRPr>
          </a:p>
          <a:p>
            <a:pPr>
              <a:lnSpc>
                <a:spcPct val="150000"/>
              </a:lnSpc>
            </a:pPr>
            <a:endParaRPr lang="en-US" sz="1900" b="1" dirty="0">
              <a:solidFill>
                <a:srgbClr val="18183A"/>
              </a:solidFill>
              <a:latin typeface="Aptos"/>
            </a:endParaRPr>
          </a:p>
          <a:p>
            <a:pPr marL="0" indent="0">
              <a:spcBef>
                <a:spcPts val="0"/>
              </a:spcBef>
              <a:spcAft>
                <a:spcPts val="700"/>
              </a:spcAft>
              <a:buNone/>
            </a:pPr>
            <a:r>
              <a:rPr lang="en-US" sz="1700" dirty="0">
                <a:solidFill>
                  <a:srgbClr val="18183A"/>
                </a:solidFill>
                <a:latin typeface="Aptos"/>
              </a:rPr>
              <a:t>           </a:t>
            </a:r>
            <a:endParaRPr lang="en-US" sz="1700" dirty="0">
              <a:solidFill>
                <a:srgbClr val="000000"/>
              </a:solidFill>
              <a:latin typeface="Aptos"/>
            </a:endParaRP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US" sz="1900" b="0" dirty="0">
                <a:solidFill>
                  <a:srgbClr val="18183A"/>
                </a:solidFill>
                <a:latin typeface="Aptos"/>
              </a:rPr>
              <a:t>The project uses Python to clean, explore and visualize the supplied Car Dekho CSV dataset. Duplicate records are removed, data quality is checked, and derived measures are created to support resale-price analysis.</a:t>
            </a:r>
            <a:endParaRPr lang="en-GB" sz="1900" b="0" dirty="0">
              <a:latin typeface="Aptos"/>
            </a:endParaRPr>
          </a:p>
          <a:p>
            <a:endParaRPr lang="en-GB"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3" name="TextBox 11">
            <a:extLst>
              <a:ext uri="{FF2B5EF4-FFF2-40B4-BE49-F238E27FC236}">
                <a16:creationId xmlns:a16="http://schemas.microsoft.com/office/drawing/2014/main" id="{2257867F-BC74-228D-51FD-4E7078518BB0}"/>
              </a:ext>
            </a:extLst>
          </p:cNvPr>
          <p:cNvSpPr txBox="1"/>
          <p:nvPr/>
        </p:nvSpPr>
        <p:spPr>
          <a:xfrm>
            <a:off x="725995" y="3579019"/>
            <a:ext cx="1600200" cy="502920"/>
          </a:xfrm>
          <a:prstGeom prst="rect">
            <a:avLst/>
          </a:prstGeom>
          <a:noFill/>
        </p:spPr>
        <p:txBody>
          <a:bodyPr wrap="squar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400" b="1">
                <a:solidFill>
                  <a:srgbClr val="2CA682"/>
                </a:solidFill>
                <a:latin typeface="Aptos"/>
              </a:rPr>
              <a:t>301</a:t>
            </a:r>
          </a:p>
        </p:txBody>
      </p:sp>
      <p:sp>
        <p:nvSpPr>
          <p:cNvPr id="14" name="TextBox 12">
            <a:extLst>
              <a:ext uri="{FF2B5EF4-FFF2-40B4-BE49-F238E27FC236}">
                <a16:creationId xmlns:a16="http://schemas.microsoft.com/office/drawing/2014/main" id="{F106D117-4702-1AD4-B398-E7174E1152FE}"/>
              </a:ext>
            </a:extLst>
          </p:cNvPr>
          <p:cNvSpPr txBox="1"/>
          <p:nvPr/>
        </p:nvSpPr>
        <p:spPr>
          <a:xfrm>
            <a:off x="725995" y="4100227"/>
            <a:ext cx="1600200" cy="457200"/>
          </a:xfrm>
          <a:prstGeom prst="rect">
            <a:avLst/>
          </a:prstGeom>
          <a:noFill/>
        </p:spPr>
        <p:txBody>
          <a:bodyPr wrap="squar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300" b="1">
                <a:solidFill>
                  <a:srgbClr val="18183A"/>
                </a:solidFill>
                <a:latin typeface="Aptos"/>
              </a:rPr>
              <a:t>Original records</a:t>
            </a:r>
          </a:p>
        </p:txBody>
      </p:sp>
      <p:sp>
        <p:nvSpPr>
          <p:cNvPr id="15" name="TextBox 13">
            <a:extLst>
              <a:ext uri="{FF2B5EF4-FFF2-40B4-BE49-F238E27FC236}">
                <a16:creationId xmlns:a16="http://schemas.microsoft.com/office/drawing/2014/main" id="{E60CDA01-97FE-3B8A-AE2E-41521A58990D}"/>
              </a:ext>
            </a:extLst>
          </p:cNvPr>
          <p:cNvSpPr txBox="1"/>
          <p:nvPr/>
        </p:nvSpPr>
        <p:spPr>
          <a:xfrm>
            <a:off x="2691955" y="3579019"/>
            <a:ext cx="1600200" cy="502920"/>
          </a:xfrm>
          <a:prstGeom prst="rect">
            <a:avLst/>
          </a:prstGeom>
          <a:noFill/>
        </p:spPr>
        <p:txBody>
          <a:bodyPr wrap="squar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400" b="1">
                <a:solidFill>
                  <a:srgbClr val="2CA682"/>
                </a:solidFill>
                <a:latin typeface="Aptos"/>
              </a:rPr>
              <a:t>2</a:t>
            </a:r>
          </a:p>
        </p:txBody>
      </p:sp>
      <p:sp>
        <p:nvSpPr>
          <p:cNvPr id="16" name="TextBox 14">
            <a:extLst>
              <a:ext uri="{FF2B5EF4-FFF2-40B4-BE49-F238E27FC236}">
                <a16:creationId xmlns:a16="http://schemas.microsoft.com/office/drawing/2014/main" id="{44DC2835-446E-47AA-D0DA-914408F95CBD}"/>
              </a:ext>
            </a:extLst>
          </p:cNvPr>
          <p:cNvSpPr txBox="1"/>
          <p:nvPr/>
        </p:nvSpPr>
        <p:spPr>
          <a:xfrm>
            <a:off x="2691955" y="4100227"/>
            <a:ext cx="1600200" cy="457200"/>
          </a:xfrm>
          <a:prstGeom prst="rect">
            <a:avLst/>
          </a:prstGeom>
          <a:noFill/>
        </p:spPr>
        <p:txBody>
          <a:bodyPr wrap="squar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300" b="1">
                <a:solidFill>
                  <a:srgbClr val="18183A"/>
                </a:solidFill>
                <a:latin typeface="Aptos"/>
              </a:rPr>
              <a:t>Duplicate rows</a:t>
            </a:r>
          </a:p>
        </p:txBody>
      </p:sp>
      <p:sp>
        <p:nvSpPr>
          <p:cNvPr id="17" name="TextBox 15">
            <a:extLst>
              <a:ext uri="{FF2B5EF4-FFF2-40B4-BE49-F238E27FC236}">
                <a16:creationId xmlns:a16="http://schemas.microsoft.com/office/drawing/2014/main" id="{7B1E4C62-3159-FA11-F16A-3720033A6745}"/>
              </a:ext>
            </a:extLst>
          </p:cNvPr>
          <p:cNvSpPr txBox="1"/>
          <p:nvPr/>
        </p:nvSpPr>
        <p:spPr>
          <a:xfrm>
            <a:off x="4657915" y="3579019"/>
            <a:ext cx="1600200" cy="502920"/>
          </a:xfrm>
          <a:prstGeom prst="rect">
            <a:avLst/>
          </a:prstGeom>
          <a:noFill/>
        </p:spPr>
        <p:txBody>
          <a:bodyPr wrap="squar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400" b="1">
                <a:solidFill>
                  <a:srgbClr val="2CA682"/>
                </a:solidFill>
                <a:latin typeface="Aptos"/>
              </a:rPr>
              <a:t>299</a:t>
            </a:r>
          </a:p>
        </p:txBody>
      </p:sp>
      <p:sp>
        <p:nvSpPr>
          <p:cNvPr id="18" name="TextBox 16">
            <a:extLst>
              <a:ext uri="{FF2B5EF4-FFF2-40B4-BE49-F238E27FC236}">
                <a16:creationId xmlns:a16="http://schemas.microsoft.com/office/drawing/2014/main" id="{3DF88D37-0594-F69B-8957-88802B77111B}"/>
              </a:ext>
            </a:extLst>
          </p:cNvPr>
          <p:cNvSpPr txBox="1"/>
          <p:nvPr/>
        </p:nvSpPr>
        <p:spPr>
          <a:xfrm>
            <a:off x="4657915" y="4100227"/>
            <a:ext cx="1600200" cy="457200"/>
          </a:xfrm>
          <a:prstGeom prst="rect">
            <a:avLst/>
          </a:prstGeom>
          <a:noFill/>
        </p:spPr>
        <p:txBody>
          <a:bodyPr wrap="squar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300" b="1">
                <a:solidFill>
                  <a:srgbClr val="18183A"/>
                </a:solidFill>
                <a:latin typeface="Aptos"/>
              </a:rPr>
              <a:t>Unique records</a:t>
            </a:r>
          </a:p>
        </p:txBody>
      </p:sp>
      <p:sp>
        <p:nvSpPr>
          <p:cNvPr id="19" name="TextBox 17">
            <a:extLst>
              <a:ext uri="{FF2B5EF4-FFF2-40B4-BE49-F238E27FC236}">
                <a16:creationId xmlns:a16="http://schemas.microsoft.com/office/drawing/2014/main" id="{4C2A9B2D-89B4-E5AD-426D-7255E14B4ACA}"/>
              </a:ext>
            </a:extLst>
          </p:cNvPr>
          <p:cNvSpPr txBox="1"/>
          <p:nvPr/>
        </p:nvSpPr>
        <p:spPr>
          <a:xfrm>
            <a:off x="6623875" y="3579019"/>
            <a:ext cx="1600200" cy="502920"/>
          </a:xfrm>
          <a:prstGeom prst="rect">
            <a:avLst/>
          </a:prstGeom>
          <a:noFill/>
        </p:spPr>
        <p:txBody>
          <a:bodyPr wrap="squar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400" b="1">
                <a:solidFill>
                  <a:srgbClr val="2CA682"/>
                </a:solidFill>
                <a:latin typeface="Aptos"/>
              </a:rPr>
              <a:t>0</a:t>
            </a:r>
          </a:p>
        </p:txBody>
      </p:sp>
      <p:sp>
        <p:nvSpPr>
          <p:cNvPr id="20" name="TextBox 18">
            <a:extLst>
              <a:ext uri="{FF2B5EF4-FFF2-40B4-BE49-F238E27FC236}">
                <a16:creationId xmlns:a16="http://schemas.microsoft.com/office/drawing/2014/main" id="{843AE001-4389-05B8-8CC5-927AB63CEB6F}"/>
              </a:ext>
            </a:extLst>
          </p:cNvPr>
          <p:cNvSpPr txBox="1"/>
          <p:nvPr/>
        </p:nvSpPr>
        <p:spPr>
          <a:xfrm>
            <a:off x="6623875" y="4100227"/>
            <a:ext cx="1600200" cy="457200"/>
          </a:xfrm>
          <a:prstGeom prst="rect">
            <a:avLst/>
          </a:prstGeom>
          <a:noFill/>
        </p:spPr>
        <p:txBody>
          <a:bodyPr wrap="squar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300" b="1">
                <a:solidFill>
                  <a:srgbClr val="18183A"/>
                </a:solidFill>
                <a:latin typeface="Aptos"/>
              </a:rPr>
              <a:t>Missing values</a:t>
            </a:r>
          </a:p>
        </p:txBody>
      </p:sp>
      <p:sp>
        <p:nvSpPr>
          <p:cNvPr id="21" name="TextBox 19">
            <a:extLst>
              <a:ext uri="{FF2B5EF4-FFF2-40B4-BE49-F238E27FC236}">
                <a16:creationId xmlns:a16="http://schemas.microsoft.com/office/drawing/2014/main" id="{920FA7D7-1A3A-1F4E-4FE2-5FE3DA3DBE85}"/>
              </a:ext>
            </a:extLst>
          </p:cNvPr>
          <p:cNvSpPr txBox="1"/>
          <p:nvPr/>
        </p:nvSpPr>
        <p:spPr>
          <a:xfrm>
            <a:off x="702183" y="4589812"/>
            <a:ext cx="2743200" cy="411480"/>
          </a:xfrm>
          <a:prstGeom prst="rect">
            <a:avLst/>
          </a:prstGeom>
          <a:noFill/>
        </p:spPr>
        <p:txBody>
          <a:bodyPr wrap="squar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800" b="1">
                <a:solidFill>
                  <a:srgbClr val="18183A"/>
                </a:solidFill>
                <a:latin typeface="Aptos"/>
              </a:rPr>
              <a:t>Key measures</a:t>
            </a:r>
          </a:p>
        </p:txBody>
      </p:sp>
      <p:sp>
        <p:nvSpPr>
          <p:cNvPr id="22" name="TextBox 20">
            <a:extLst>
              <a:ext uri="{FF2B5EF4-FFF2-40B4-BE49-F238E27FC236}">
                <a16:creationId xmlns:a16="http://schemas.microsoft.com/office/drawing/2014/main" id="{7DCD0FBF-4334-D272-7A32-49093C8FB3F3}"/>
              </a:ext>
            </a:extLst>
          </p:cNvPr>
          <p:cNvSpPr txBox="1"/>
          <p:nvPr/>
        </p:nvSpPr>
        <p:spPr>
          <a:xfrm>
            <a:off x="821055" y="4983004"/>
            <a:ext cx="7315200" cy="1417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700"/>
              </a:spcAft>
              <a:defRPr sz="1500">
                <a:solidFill>
                  <a:srgbClr val="18183A"/>
                </a:solidFill>
                <a:latin typeface="Aptos"/>
              </a:defRPr>
            </a:pPr>
            <a:r>
              <a:t>• Average selling price: ₹4.59 lakh</a:t>
            </a:r>
          </a:p>
          <a:p>
            <a:pPr>
              <a:spcAft>
                <a:spcPts val="700"/>
              </a:spcAft>
              <a:defRPr sz="1500">
                <a:solidFill>
                  <a:srgbClr val="18183A"/>
                </a:solidFill>
                <a:latin typeface="Aptos"/>
              </a:defRPr>
            </a:pPr>
            <a:r>
              <a:t>• Median selling price: ₹3.51 lakh</a:t>
            </a:r>
          </a:p>
          <a:p>
            <a:pPr>
              <a:spcAft>
                <a:spcPts val="700"/>
              </a:spcAft>
              <a:defRPr sz="1500">
                <a:solidFill>
                  <a:srgbClr val="18183A"/>
                </a:solidFill>
                <a:latin typeface="Aptos"/>
              </a:defRPr>
            </a:pPr>
            <a:r>
              <a:t>• Car age uses 2018, the latest year in the supplied dataset</a:t>
            </a:r>
          </a:p>
          <a:p>
            <a:pPr>
              <a:spcAft>
                <a:spcPts val="700"/>
              </a:spcAft>
              <a:defRPr sz="1500">
                <a:solidFill>
                  <a:srgbClr val="18183A"/>
                </a:solidFill>
                <a:latin typeface="Aptos"/>
              </a:defRPr>
            </a:pPr>
            <a:r>
              <a:t>• Findings are descriptive and limited to the supplied data</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vert="horz" lIns="91440" tIns="45720" rIns="91440" bIns="45720" rtlCol="0" anchor="t">
            <a:normAutofit/>
          </a:bodyPr>
          <a:lstStyle/>
          <a:p>
            <a:pPr>
              <a:spcBef>
                <a:spcPts val="0"/>
              </a:spcBef>
              <a:spcAft>
                <a:spcPts val="900"/>
              </a:spcAft>
            </a:pPr>
            <a:endParaRPr lang="en-US" sz="1600" dirty="0">
              <a:solidFill>
                <a:srgbClr val="18183A"/>
              </a:solidFill>
              <a:latin typeface="Aptos"/>
            </a:endParaRPr>
          </a:p>
          <a:p>
            <a:pPr>
              <a:spcBef>
                <a:spcPts val="0"/>
              </a:spcBef>
              <a:spcAft>
                <a:spcPts val="900"/>
              </a:spcAft>
            </a:pPr>
            <a:r>
              <a:rPr lang="en-US" sz="1600" dirty="0">
                <a:solidFill>
                  <a:srgbClr val="18183A"/>
                </a:solidFill>
                <a:latin typeface="Aptos"/>
              </a:rPr>
              <a:t>Used-car buyers — compare broad price patterns across categories.</a:t>
            </a:r>
          </a:p>
          <a:p>
            <a:pPr>
              <a:spcBef>
                <a:spcPts val="0"/>
              </a:spcBef>
              <a:spcAft>
                <a:spcPts val="900"/>
              </a:spcAft>
            </a:pPr>
            <a:r>
              <a:rPr lang="en-US" sz="1600" dirty="0">
                <a:solidFill>
                  <a:srgbClr val="18183A"/>
                </a:solidFill>
                <a:latin typeface="Aptos"/>
              </a:rPr>
              <a:t>Used-car sellers — understand factors associated with resale prices.</a:t>
            </a:r>
          </a:p>
          <a:p>
            <a:pPr>
              <a:spcBef>
                <a:spcPts val="0"/>
              </a:spcBef>
              <a:spcAft>
                <a:spcPts val="900"/>
              </a:spcAft>
            </a:pPr>
            <a:r>
              <a:rPr lang="en-US" sz="1600" dirty="0">
                <a:solidFill>
                  <a:srgbClr val="18183A"/>
                </a:solidFill>
                <a:latin typeface="Aptos"/>
              </a:rPr>
              <a:t>Dealers — review inventory-level price patterns.</a:t>
            </a:r>
            <a:endParaRPr lang="en-US" sz="1600">
              <a:solidFill>
                <a:srgbClr val="000000"/>
              </a:solidFill>
              <a:latin typeface="Aptos"/>
            </a:endParaRPr>
          </a:p>
          <a:p>
            <a:pPr>
              <a:spcBef>
                <a:spcPts val="0"/>
              </a:spcBef>
              <a:spcAft>
                <a:spcPts val="900"/>
              </a:spcAft>
            </a:pPr>
            <a:r>
              <a:rPr lang="en-US" sz="1600" dirty="0">
                <a:solidFill>
                  <a:srgbClr val="18183A"/>
                </a:solidFill>
                <a:latin typeface="Aptos"/>
              </a:rPr>
              <a:t>Data analysts and students — practice cleaning, grouping,  correlation and visualization.</a:t>
            </a:r>
            <a:endParaRPr lang="en-US" sz="1600" dirty="0">
              <a:solidFill>
                <a:srgbClr val="000000"/>
              </a:solidFill>
              <a:latin typeface="Aptos"/>
            </a:endParaRPr>
          </a:p>
          <a:p>
            <a:pPr>
              <a:spcBef>
                <a:spcPts val="0"/>
              </a:spcBef>
              <a:spcAft>
                <a:spcPts val="900"/>
              </a:spcAft>
            </a:pPr>
            <a:r>
              <a:rPr lang="en-US" sz="1600" dirty="0">
                <a:solidFill>
                  <a:srgbClr val="18183A"/>
                </a:solidFill>
                <a:latin typeface="Aptos"/>
              </a:rPr>
              <a:t>Academic evaluators — assess a complete and reproducible analytics workflow.</a:t>
            </a:r>
            <a:endParaRPr lang="en-US" sz="1600" dirty="0">
              <a:solidFill>
                <a:srgbClr val="000000"/>
              </a:solidFill>
              <a:latin typeface="Aptos"/>
            </a:endParaRPr>
          </a:p>
          <a:p>
            <a:pPr algn="just">
              <a:lnSpc>
                <a:spcPct val="150000"/>
              </a:lnSpc>
            </a:pPr>
            <a:endParaRPr lang="en-IN" sz="3600" dirty="0">
              <a:solidFill>
                <a:srgbClr val="000000"/>
              </a:solidFill>
              <a:latin typeface="Trebuchet MS"/>
            </a:endParaRPr>
          </a:p>
          <a:p>
            <a:pPr>
              <a:spcBef>
                <a:spcPts val="0"/>
              </a:spcBef>
              <a:spcAft>
                <a:spcPts val="900"/>
              </a:spcAft>
            </a:pPr>
            <a:endParaRPr lang="en-US" sz="1600" dirty="0">
              <a:solidFill>
                <a:srgbClr val="18183A"/>
              </a:solidFill>
              <a:latin typeface="Aptos"/>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426336" y="1432560"/>
            <a:ext cx="8991984" cy="2516917"/>
          </a:xfrm>
        </p:spPr>
        <p:txBody>
          <a:bodyPr vert="horz" lIns="91440" tIns="45720" rIns="91440" bIns="45720" rtlCol="0" anchor="t">
            <a:normAutofit/>
          </a:bodyPr>
          <a:lstStyle/>
          <a:p>
            <a:pPr>
              <a:lnSpc>
                <a:spcPct val="100000"/>
              </a:lnSpc>
              <a:spcBef>
                <a:spcPts val="0"/>
              </a:spcBef>
              <a:spcAft>
                <a:spcPts val="700"/>
              </a:spcAft>
            </a:pPr>
            <a:r>
              <a:rPr lang="en-US" sz="1700" dirty="0">
                <a:solidFill>
                  <a:srgbClr val="18183A"/>
                </a:solidFill>
                <a:latin typeface="Aptos"/>
              </a:rPr>
              <a:t>Python — primary programming language</a:t>
            </a:r>
            <a:endParaRPr lang="en-US" sz="1700" dirty="0">
              <a:solidFill>
                <a:srgbClr val="000000"/>
              </a:solidFill>
              <a:latin typeface="Aptos"/>
            </a:endParaRPr>
          </a:p>
          <a:p>
            <a:pPr>
              <a:lnSpc>
                <a:spcPct val="100000"/>
              </a:lnSpc>
              <a:spcBef>
                <a:spcPts val="0"/>
              </a:spcBef>
              <a:spcAft>
                <a:spcPts val="700"/>
              </a:spcAft>
            </a:pPr>
            <a:r>
              <a:rPr lang="en-US" sz="1700" dirty="0">
                <a:solidFill>
                  <a:srgbClr val="18183A"/>
                </a:solidFill>
                <a:latin typeface="Aptos"/>
              </a:rPr>
              <a:t>Pandas — data loading, cleaning and aggregation</a:t>
            </a:r>
            <a:endParaRPr lang="en-US" sz="1700" dirty="0">
              <a:solidFill>
                <a:srgbClr val="000000"/>
              </a:solidFill>
              <a:latin typeface="Aptos"/>
            </a:endParaRPr>
          </a:p>
          <a:p>
            <a:pPr>
              <a:lnSpc>
                <a:spcPct val="100000"/>
              </a:lnSpc>
              <a:spcBef>
                <a:spcPts val="0"/>
              </a:spcBef>
              <a:spcAft>
                <a:spcPts val="700"/>
              </a:spcAft>
            </a:pPr>
            <a:r>
              <a:rPr lang="en-US" sz="1700" dirty="0">
                <a:solidFill>
                  <a:srgbClr val="18183A"/>
                </a:solidFill>
                <a:latin typeface="Aptos"/>
              </a:rPr>
              <a:t>NumPy — numerical operations</a:t>
            </a:r>
            <a:endParaRPr lang="en-US" sz="1700" dirty="0">
              <a:solidFill>
                <a:srgbClr val="000000"/>
              </a:solidFill>
              <a:latin typeface="Aptos"/>
            </a:endParaRPr>
          </a:p>
          <a:p>
            <a:pPr>
              <a:lnSpc>
                <a:spcPct val="100000"/>
              </a:lnSpc>
              <a:spcBef>
                <a:spcPts val="0"/>
              </a:spcBef>
              <a:spcAft>
                <a:spcPts val="700"/>
              </a:spcAft>
            </a:pPr>
            <a:r>
              <a:rPr lang="en-US" sz="1700" dirty="0">
                <a:solidFill>
                  <a:srgbClr val="18183A"/>
                </a:solidFill>
                <a:latin typeface="Aptos"/>
              </a:rPr>
              <a:t>Matplotlib — charts and visual analysis</a:t>
            </a:r>
            <a:endParaRPr lang="en-US" sz="1700" dirty="0">
              <a:solidFill>
                <a:srgbClr val="000000"/>
              </a:solidFill>
              <a:latin typeface="Aptos"/>
            </a:endParaRPr>
          </a:p>
          <a:p>
            <a:pPr>
              <a:lnSpc>
                <a:spcPct val="100000"/>
              </a:lnSpc>
              <a:spcBef>
                <a:spcPts val="0"/>
              </a:spcBef>
              <a:spcAft>
                <a:spcPts val="700"/>
              </a:spcAft>
            </a:pPr>
            <a:r>
              <a:rPr lang="en-US" sz="1700" dirty="0">
                <a:solidFill>
                  <a:srgbClr val="18183A"/>
                </a:solidFill>
                <a:latin typeface="Aptos"/>
              </a:rPr>
              <a:t>Jupyter Notebook— interactive analysis</a:t>
            </a:r>
            <a:endParaRPr lang="en-US" sz="1700" dirty="0">
              <a:solidFill>
                <a:srgbClr val="000000"/>
              </a:solidFill>
              <a:latin typeface="Aptos"/>
            </a:endParaRPr>
          </a:p>
          <a:p>
            <a:pPr>
              <a:lnSpc>
                <a:spcPct val="100000"/>
              </a:lnSpc>
              <a:spcBef>
                <a:spcPts val="0"/>
              </a:spcBef>
              <a:spcAft>
                <a:spcPts val="700"/>
              </a:spcAft>
            </a:pPr>
            <a:r>
              <a:rPr lang="en-US" sz="1700" dirty="0">
                <a:solidFill>
                  <a:srgbClr val="18183A"/>
                </a:solidFill>
                <a:latin typeface="Aptos"/>
              </a:rPr>
              <a:t>Git &amp; GitHub — version control and project publishing</a:t>
            </a:r>
            <a:endParaRPr lang="en-US" sz="1700">
              <a:solidFill>
                <a:srgbClr val="000000"/>
              </a:solidFill>
              <a:latin typeface="Aptos"/>
            </a:endParaRPr>
          </a:p>
          <a:p>
            <a:pPr lvl="1">
              <a:lnSpc>
                <a:spcPct val="150000"/>
              </a:lnSpc>
            </a:pPr>
            <a:endParaRPr lang="en-IN" dirty="0">
              <a:solidFill>
                <a:srgbClr val="000000"/>
              </a:solidFill>
              <a:latin typeface="Trebuchet MS"/>
            </a:endParaRPr>
          </a:p>
          <a:p>
            <a:pPr lvl="1">
              <a:lnSpc>
                <a:spcPct val="150000"/>
              </a:lnSpc>
            </a:pPr>
            <a:endParaRPr lang="en-IN" dirty="0">
              <a:solidFill>
                <a:srgbClr val="404040"/>
              </a:solidFill>
              <a:latin typeface="Trebuchet MS"/>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76195" y="1431693"/>
            <a:ext cx="3554810" cy="2513488"/>
          </a:xfrm>
        </p:spPr>
        <p:txBody>
          <a:bodyPr vert="horz" lIns="91440" tIns="45720" rIns="91440" bIns="45720" rtlCol="0" anchor="t">
            <a:normAutofit/>
          </a:bodyPr>
          <a:lstStyle/>
          <a:p>
            <a:pPr marL="0" indent="0">
              <a:spcBef>
                <a:spcPts val="0"/>
              </a:spcBef>
              <a:spcAft>
                <a:spcPts val="800"/>
              </a:spcAft>
              <a:buNone/>
            </a:pPr>
            <a:r>
              <a:rPr lang="en-US" sz="1500" dirty="0">
                <a:solidFill>
                  <a:srgbClr val="18183A"/>
                </a:solidFill>
                <a:latin typeface="Aptos"/>
              </a:rPr>
              <a:t>• Present price vs selling price: r = 0.88</a:t>
            </a:r>
            <a:endParaRPr lang="en-US" sz="1500" dirty="0">
              <a:solidFill>
                <a:srgbClr val="000000"/>
              </a:solidFill>
              <a:latin typeface="Aptos"/>
            </a:endParaRPr>
          </a:p>
          <a:p>
            <a:pPr marL="0" indent="0">
              <a:spcBef>
                <a:spcPts val="0"/>
              </a:spcBef>
              <a:spcAft>
                <a:spcPts val="800"/>
              </a:spcAft>
              <a:buNone/>
            </a:pPr>
            <a:r>
              <a:rPr lang="en-US" sz="1500" dirty="0">
                <a:solidFill>
                  <a:srgbClr val="18183A"/>
                </a:solidFill>
                <a:latin typeface="Aptos"/>
              </a:rPr>
              <a:t>• Diesel average: ₹10.10 lakh</a:t>
            </a:r>
            <a:endParaRPr lang="en-US" sz="1500" dirty="0">
              <a:solidFill>
                <a:srgbClr val="000000"/>
              </a:solidFill>
              <a:latin typeface="Aptos"/>
            </a:endParaRPr>
          </a:p>
          <a:p>
            <a:pPr marL="0" indent="0">
              <a:spcBef>
                <a:spcPts val="0"/>
              </a:spcBef>
              <a:spcAft>
                <a:spcPts val="800"/>
              </a:spcAft>
              <a:buNone/>
            </a:pPr>
            <a:r>
              <a:rPr lang="en-US" sz="1500" dirty="0">
                <a:solidFill>
                  <a:srgbClr val="18183A"/>
                </a:solidFill>
                <a:latin typeface="Aptos"/>
              </a:rPr>
              <a:t>• Petrol average: ₹3.26 lakh</a:t>
            </a:r>
            <a:endParaRPr lang="en-US" sz="1500" dirty="0">
              <a:solidFill>
                <a:srgbClr val="000000"/>
              </a:solidFill>
              <a:latin typeface="Aptos"/>
            </a:endParaRPr>
          </a:p>
          <a:p>
            <a:pPr marL="0" indent="0">
              <a:spcBef>
                <a:spcPts val="0"/>
              </a:spcBef>
              <a:spcAft>
                <a:spcPts val="800"/>
              </a:spcAft>
              <a:buNone/>
            </a:pPr>
            <a:r>
              <a:rPr lang="en-US" sz="1500" dirty="0">
                <a:solidFill>
                  <a:srgbClr val="18183A"/>
                </a:solidFill>
                <a:latin typeface="Aptos"/>
              </a:rPr>
              <a:t>• Dealer average: ₹6.63 lakh</a:t>
            </a:r>
            <a:endParaRPr lang="en-US" sz="1500" dirty="0">
              <a:solidFill>
                <a:srgbClr val="000000"/>
              </a:solidFill>
              <a:latin typeface="Aptos"/>
            </a:endParaRPr>
          </a:p>
          <a:p>
            <a:pPr marL="0" indent="0">
              <a:spcBef>
                <a:spcPts val="0"/>
              </a:spcBef>
              <a:spcAft>
                <a:spcPts val="800"/>
              </a:spcAft>
              <a:buNone/>
            </a:pPr>
            <a:r>
              <a:rPr lang="en-US" sz="1500" dirty="0">
                <a:solidFill>
                  <a:srgbClr val="18183A"/>
                </a:solidFill>
                <a:latin typeface="Aptos"/>
              </a:rPr>
              <a:t>• Individual average: ₹0.87 lakh</a:t>
            </a:r>
            <a:endParaRPr lang="en-US" sz="1500" dirty="0">
              <a:solidFill>
                <a:srgbClr val="000000"/>
              </a:solidFill>
              <a:latin typeface="Aptos"/>
            </a:endParaRPr>
          </a:p>
          <a:p>
            <a:pPr marL="0" indent="0">
              <a:buNone/>
            </a:pPr>
            <a:endParaRPr lang="en-US" dirty="0"/>
          </a:p>
        </p:txBody>
      </p:sp>
      <p:pic>
        <p:nvPicPr>
          <p:cNvPr id="2" name="Picture 1">
            <a:extLst>
              <a:ext uri="{FF2B5EF4-FFF2-40B4-BE49-F238E27FC236}">
                <a16:creationId xmlns:a16="http://schemas.microsoft.com/office/drawing/2014/main" id="{05416EA6-F577-6544-886B-EC46380D46EE}"/>
              </a:ext>
            </a:extLst>
          </p:cNvPr>
          <p:cNvPicPr>
            <a:picLocks noChangeAspect="1"/>
          </p:cNvPicPr>
          <p:nvPr/>
        </p:nvPicPr>
        <p:blipFill>
          <a:blip r:embed="rId4"/>
          <a:srcRect r="-86" b="-235"/>
          <a:stretch>
            <a:fillRect/>
          </a:stretch>
        </p:blipFill>
        <p:spPr>
          <a:xfrm>
            <a:off x="4938713" y="1275160"/>
            <a:ext cx="6368189" cy="2348663"/>
          </a:xfrm>
          <a:prstGeom prst="rect">
            <a:avLst/>
          </a:prstGeom>
        </p:spPr>
      </p:pic>
      <p:pic>
        <p:nvPicPr>
          <p:cNvPr id="3" name="Picture 2">
            <a:extLst>
              <a:ext uri="{FF2B5EF4-FFF2-40B4-BE49-F238E27FC236}">
                <a16:creationId xmlns:a16="http://schemas.microsoft.com/office/drawing/2014/main" id="{93D95322-F2DE-AE7F-CBA1-D6AE3BFE012A}"/>
              </a:ext>
            </a:extLst>
          </p:cNvPr>
          <p:cNvPicPr>
            <a:picLocks noChangeAspect="1"/>
          </p:cNvPicPr>
          <p:nvPr/>
        </p:nvPicPr>
        <p:blipFill>
          <a:blip r:embed="rId5"/>
          <a:srcRect r="-86"/>
          <a:stretch>
            <a:fillRect/>
          </a:stretch>
        </p:blipFill>
        <p:spPr>
          <a:xfrm>
            <a:off x="4938712" y="4137422"/>
            <a:ext cx="6368189" cy="2333625"/>
          </a:xfrm>
          <a:prstGeom prst="rect">
            <a:avLst/>
          </a:prstGeom>
        </p:spPr>
      </p:pic>
      <p:sp>
        <p:nvSpPr>
          <p:cNvPr id="11" name="TextBox 32">
            <a:extLst>
              <a:ext uri="{FF2B5EF4-FFF2-40B4-BE49-F238E27FC236}">
                <a16:creationId xmlns:a16="http://schemas.microsoft.com/office/drawing/2014/main" id="{0798DD00-1D04-4824-1EA9-185AFB2DC69D}"/>
              </a:ext>
            </a:extLst>
          </p:cNvPr>
          <p:cNvSpPr txBox="1"/>
          <p:nvPr/>
        </p:nvSpPr>
        <p:spPr>
          <a:xfrm>
            <a:off x="675370" y="4724876"/>
            <a:ext cx="3840480" cy="914400"/>
          </a:xfrm>
          <a:prstGeom prst="rect">
            <a:avLst/>
          </a:prstGeom>
          <a:noFill/>
        </p:spPr>
        <p:txBody>
          <a:bodyPr wrap="squar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300" b="1">
                <a:solidFill>
                  <a:srgbClr val="18183A"/>
                </a:solidFill>
                <a:latin typeface="Aptos"/>
              </a:rPr>
              <a:t>Interpretation: present price is strongly and positively associated with selling price in this dataset.</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1" end="1"/>
                                            </p:txEl>
                                          </p:spTgt>
                                        </p:tgtEl>
                                        <p:attrNameLst>
                                          <p:attrName>style.visibility</p:attrName>
                                        </p:attrNameLst>
                                      </p:cBhvr>
                                      <p:to>
                                        <p:strVal val="visible"/>
                                      </p:to>
                                    </p:set>
                                    <p:animEffect transition="in" filter="fade">
                                      <p:cBhvr>
                                        <p:cTn id="28" dur="1000"/>
                                        <p:tgtEl>
                                          <p:spTgt spid="10">
                                            <p:txEl>
                                              <p:pRg st="1" end="1"/>
                                            </p:txEl>
                                          </p:spTgt>
                                        </p:tgtEl>
                                      </p:cBhvr>
                                    </p:animEffect>
                                    <p:anim calcmode="lin" valueType="num">
                                      <p:cBhvr>
                                        <p:cTn id="29"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fade">
                                      <p:cBhvr>
                                        <p:cTn id="35" dur="1000"/>
                                        <p:tgtEl>
                                          <p:spTgt spid="10">
                                            <p:txEl>
                                              <p:pRg st="2" end="2"/>
                                            </p:txEl>
                                          </p:spTgt>
                                        </p:tgtEl>
                                      </p:cBhvr>
                                    </p:animEffect>
                                    <p:anim calcmode="lin" valueType="num">
                                      <p:cBhvr>
                                        <p:cTn id="36"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3" end="3"/>
                                            </p:txEl>
                                          </p:spTgt>
                                        </p:tgtEl>
                                        <p:attrNameLst>
                                          <p:attrName>style.visibility</p:attrName>
                                        </p:attrNameLst>
                                      </p:cBhvr>
                                      <p:to>
                                        <p:strVal val="visible"/>
                                      </p:to>
                                    </p:set>
                                    <p:animEffect transition="in" filter="fade">
                                      <p:cBhvr>
                                        <p:cTn id="42" dur="1000"/>
                                        <p:tgtEl>
                                          <p:spTgt spid="10">
                                            <p:txEl>
                                              <p:pRg st="3" end="3"/>
                                            </p:txEl>
                                          </p:spTgt>
                                        </p:tgtEl>
                                      </p:cBhvr>
                                    </p:animEffect>
                                    <p:anim calcmode="lin" valueType="num">
                                      <p:cBhvr>
                                        <p:cTn id="4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Effect transition="in" filter="fade">
                                      <p:cBhvr>
                                        <p:cTn id="49" dur="1000"/>
                                        <p:tgtEl>
                                          <p:spTgt spid="10">
                                            <p:txEl>
                                              <p:pRg st="4" end="4"/>
                                            </p:txEl>
                                          </p:spTgt>
                                        </p:tgtEl>
                                      </p:cBhvr>
                                    </p:animEffect>
                                    <p:anim calcmode="lin" valueType="num">
                                      <p:cBhvr>
                                        <p:cTn id="5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9B4A24F-1958-1EAC-4E97-0F4035F895C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953794" cy="3239769"/>
          </a:xfrm>
        </p:spPr>
        <p:txBody>
          <a:bodyPr vert="horz" lIns="91440" tIns="45720" rIns="91440" bIns="45720" rtlCol="0" anchor="t">
            <a:normAutofit/>
          </a:bodyPr>
          <a:lstStyle/>
          <a:p>
            <a:pPr marL="0" indent="0">
              <a:spcBef>
                <a:spcPts val="0"/>
              </a:spcBef>
              <a:spcAft>
                <a:spcPts val="500"/>
              </a:spcAft>
              <a:buNone/>
            </a:pPr>
            <a:r>
              <a:rPr lang="en-US" sz="1100" dirty="0">
                <a:solidFill>
                  <a:srgbClr val="18183A"/>
                </a:solidFill>
                <a:latin typeface="Consolas"/>
                <a:ea typeface="+mn-lt"/>
                <a:cs typeface="+mn-lt"/>
              </a:rPr>
              <a:t>data = </a:t>
            </a:r>
            <a:r>
              <a:rPr lang="en-US" sz="1100" dirty="0" err="1">
                <a:solidFill>
                  <a:srgbClr val="18183A"/>
                </a:solidFill>
                <a:latin typeface="Consolas"/>
                <a:ea typeface="+mn-lt"/>
                <a:cs typeface="+mn-lt"/>
              </a:rPr>
              <a:t>df.drop_duplicates</a:t>
            </a:r>
            <a:r>
              <a:rPr lang="en-US" sz="1100" dirty="0">
                <a:solidFill>
                  <a:srgbClr val="18183A"/>
                </a:solidFill>
                <a:latin typeface="Consolas"/>
                <a:ea typeface="+mn-lt"/>
                <a:cs typeface="+mn-lt"/>
              </a:rPr>
              <a:t>().copy()</a:t>
            </a:r>
            <a:endParaRPr lang="en-US" sz="1100" dirty="0">
              <a:solidFill>
                <a:srgbClr val="000000"/>
              </a:solidFill>
              <a:latin typeface="Consolas"/>
              <a:ea typeface="+mn-lt"/>
              <a:cs typeface="+mn-lt"/>
            </a:endParaRPr>
          </a:p>
          <a:p>
            <a:pPr marL="0" indent="0">
              <a:spcBef>
                <a:spcPts val="0"/>
              </a:spcBef>
              <a:spcAft>
                <a:spcPts val="500"/>
              </a:spcAft>
              <a:buNone/>
            </a:pPr>
            <a:r>
              <a:rPr lang="en-US" sz="1100" dirty="0">
                <a:solidFill>
                  <a:srgbClr val="18183A"/>
                </a:solidFill>
                <a:latin typeface="Consolas"/>
                <a:ea typeface="+mn-lt"/>
                <a:cs typeface="+mn-lt"/>
              </a:rPr>
              <a:t>data["</a:t>
            </a:r>
            <a:r>
              <a:rPr lang="en-US" sz="1100" dirty="0" err="1">
                <a:solidFill>
                  <a:srgbClr val="18183A"/>
                </a:solidFill>
                <a:latin typeface="Consolas"/>
                <a:ea typeface="+mn-lt"/>
                <a:cs typeface="+mn-lt"/>
              </a:rPr>
              <a:t>Car_Age</a:t>
            </a:r>
            <a:r>
              <a:rPr lang="en-US" sz="1100" dirty="0">
                <a:solidFill>
                  <a:srgbClr val="18183A"/>
                </a:solidFill>
                <a:latin typeface="Consolas"/>
                <a:ea typeface="+mn-lt"/>
                <a:cs typeface="+mn-lt"/>
              </a:rPr>
              <a:t>"] = 2018 - data["Year"]</a:t>
            </a:r>
            <a:endParaRPr lang="en-US" sz="1100" dirty="0">
              <a:solidFill>
                <a:srgbClr val="000000"/>
              </a:solidFill>
              <a:latin typeface="Consolas"/>
              <a:ea typeface="+mn-lt"/>
              <a:cs typeface="+mn-lt"/>
            </a:endParaRPr>
          </a:p>
          <a:p>
            <a:pPr marL="0" indent="0">
              <a:spcBef>
                <a:spcPts val="0"/>
              </a:spcBef>
              <a:spcAft>
                <a:spcPts val="500"/>
              </a:spcAft>
              <a:buNone/>
            </a:pPr>
            <a:r>
              <a:rPr lang="en-US" sz="1100" dirty="0" err="1">
                <a:solidFill>
                  <a:srgbClr val="18183A"/>
                </a:solidFill>
                <a:latin typeface="Consolas"/>
                <a:ea typeface="+mn-lt"/>
                <a:cs typeface="+mn-lt"/>
              </a:rPr>
              <a:t>data.groupby</a:t>
            </a:r>
            <a:r>
              <a:rPr lang="en-US" sz="1100" dirty="0">
                <a:solidFill>
                  <a:srgbClr val="18183A"/>
                </a:solidFill>
                <a:latin typeface="Consolas"/>
                <a:ea typeface="+mn-lt"/>
                <a:cs typeface="+mn-lt"/>
              </a:rPr>
              <a:t>("</a:t>
            </a:r>
            <a:r>
              <a:rPr lang="en-US" sz="1100" dirty="0" err="1">
                <a:solidFill>
                  <a:srgbClr val="18183A"/>
                </a:solidFill>
                <a:latin typeface="Consolas"/>
                <a:ea typeface="+mn-lt"/>
                <a:cs typeface="+mn-lt"/>
              </a:rPr>
              <a:t>Fuel_Type</a:t>
            </a:r>
            <a:r>
              <a:rPr lang="en-US" sz="1100" dirty="0">
                <a:solidFill>
                  <a:srgbClr val="18183A"/>
                </a:solidFill>
                <a:latin typeface="Consolas"/>
                <a:ea typeface="+mn-lt"/>
                <a:cs typeface="+mn-lt"/>
              </a:rPr>
              <a:t>").</a:t>
            </a:r>
            <a:r>
              <a:rPr lang="en-US" sz="1100" dirty="0" err="1">
                <a:solidFill>
                  <a:srgbClr val="18183A"/>
                </a:solidFill>
                <a:latin typeface="Consolas"/>
                <a:ea typeface="+mn-lt"/>
                <a:cs typeface="+mn-lt"/>
              </a:rPr>
              <a:t>Selling_Price.mean</a:t>
            </a:r>
            <a:r>
              <a:rPr lang="en-US" sz="1100" dirty="0">
                <a:solidFill>
                  <a:srgbClr val="18183A"/>
                </a:solidFill>
                <a:latin typeface="Consolas"/>
                <a:ea typeface="+mn-lt"/>
                <a:cs typeface="+mn-lt"/>
              </a:rPr>
              <a:t>()</a:t>
            </a:r>
            <a:endParaRPr lang="en-US" sz="1100" dirty="0">
              <a:solidFill>
                <a:srgbClr val="000000"/>
              </a:solidFill>
              <a:latin typeface="Consolas"/>
              <a:ea typeface="+mn-lt"/>
              <a:cs typeface="+mn-lt"/>
            </a:endParaRPr>
          </a:p>
          <a:p>
            <a:pPr marL="0" indent="0">
              <a:spcBef>
                <a:spcPts val="0"/>
              </a:spcBef>
              <a:spcAft>
                <a:spcPts val="500"/>
              </a:spcAft>
              <a:buNone/>
            </a:pPr>
            <a:r>
              <a:rPr lang="en-US" sz="1100" dirty="0" err="1">
                <a:solidFill>
                  <a:srgbClr val="18183A"/>
                </a:solidFill>
                <a:latin typeface="Consolas"/>
                <a:ea typeface="+mn-lt"/>
                <a:cs typeface="+mn-lt"/>
              </a:rPr>
              <a:t>data.groupby</a:t>
            </a:r>
            <a:r>
              <a:rPr lang="en-US" sz="1100" dirty="0">
                <a:solidFill>
                  <a:srgbClr val="18183A"/>
                </a:solidFill>
                <a:latin typeface="Consolas"/>
                <a:ea typeface="+mn-lt"/>
                <a:cs typeface="+mn-lt"/>
              </a:rPr>
              <a:t>("Transmission").</a:t>
            </a:r>
            <a:r>
              <a:rPr lang="en-US" sz="1100" dirty="0" err="1">
                <a:solidFill>
                  <a:srgbClr val="18183A"/>
                </a:solidFill>
                <a:latin typeface="Consolas"/>
                <a:ea typeface="+mn-lt"/>
                <a:cs typeface="+mn-lt"/>
              </a:rPr>
              <a:t>Selling_Price.mean</a:t>
            </a:r>
            <a:r>
              <a:rPr lang="en-US" sz="1100" dirty="0">
                <a:solidFill>
                  <a:srgbClr val="18183A"/>
                </a:solidFill>
                <a:latin typeface="Consolas"/>
                <a:ea typeface="+mn-lt"/>
                <a:cs typeface="+mn-lt"/>
              </a:rPr>
              <a:t>()</a:t>
            </a:r>
            <a:endParaRPr lang="en-US" sz="1100" dirty="0">
              <a:solidFill>
                <a:srgbClr val="000000"/>
              </a:solidFill>
              <a:latin typeface="Consolas"/>
              <a:ea typeface="+mn-lt"/>
              <a:cs typeface="+mn-lt"/>
            </a:endParaRPr>
          </a:p>
          <a:p>
            <a:pPr marL="0" indent="0">
              <a:spcBef>
                <a:spcPts val="0"/>
              </a:spcBef>
              <a:spcAft>
                <a:spcPts val="500"/>
              </a:spcAft>
              <a:buNone/>
            </a:pPr>
            <a:r>
              <a:rPr lang="en-US" sz="1100" dirty="0" err="1">
                <a:solidFill>
                  <a:srgbClr val="18183A"/>
                </a:solidFill>
                <a:latin typeface="Consolas"/>
                <a:ea typeface="+mn-lt"/>
                <a:cs typeface="+mn-lt"/>
              </a:rPr>
              <a:t>data.Selling_Price.corr</a:t>
            </a:r>
            <a:r>
              <a:rPr lang="en-US" sz="1100" dirty="0">
                <a:solidFill>
                  <a:srgbClr val="18183A"/>
                </a:solidFill>
                <a:latin typeface="Consolas"/>
                <a:ea typeface="+mn-lt"/>
                <a:cs typeface="+mn-lt"/>
              </a:rPr>
              <a:t>(</a:t>
            </a:r>
            <a:r>
              <a:rPr lang="en-US" sz="1100" dirty="0" err="1">
                <a:solidFill>
                  <a:srgbClr val="18183A"/>
                </a:solidFill>
                <a:latin typeface="Consolas"/>
                <a:ea typeface="+mn-lt"/>
                <a:cs typeface="+mn-lt"/>
              </a:rPr>
              <a:t>data.Present_Price</a:t>
            </a:r>
            <a:r>
              <a:rPr lang="en-US" sz="1100" dirty="0">
                <a:solidFill>
                  <a:srgbClr val="18183A"/>
                </a:solidFill>
                <a:latin typeface="Consolas"/>
                <a:ea typeface="+mn-lt"/>
                <a:cs typeface="+mn-lt"/>
              </a:rPr>
              <a:t>)</a:t>
            </a:r>
            <a:endParaRPr lang="en-US" sz="1100" dirty="0">
              <a:solidFill>
                <a:srgbClr val="000000"/>
              </a:solidFill>
              <a:latin typeface="Consolas"/>
              <a:ea typeface="+mn-lt"/>
              <a:cs typeface="+mn-lt"/>
            </a:endParaRPr>
          </a:p>
          <a:p>
            <a:pPr>
              <a:buNone/>
            </a:pPr>
            <a:endParaRPr lang="en-US" sz="1100" dirty="0">
              <a:solidFill>
                <a:srgbClr val="18183A"/>
              </a:solidFill>
              <a:ea typeface="+mn-lt"/>
              <a:cs typeface="+mn-lt"/>
            </a:endParaRPr>
          </a:p>
        </p:txBody>
      </p:sp>
      <p:sp>
        <p:nvSpPr>
          <p:cNvPr id="2" name="Text Placeholder 30">
            <a:extLst>
              <a:ext uri="{FF2B5EF4-FFF2-40B4-BE49-F238E27FC236}">
                <a16:creationId xmlns:a16="http://schemas.microsoft.com/office/drawing/2014/main" id="{0E149068-B429-662F-714A-0DD8CE171A51}"/>
              </a:ext>
            </a:extLst>
          </p:cNvPr>
          <p:cNvSpPr txBox="1">
            <a:spLocks/>
          </p:cNvSpPr>
          <p:nvPr/>
        </p:nvSpPr>
        <p:spPr>
          <a:xfrm>
            <a:off x="5191038" y="489559"/>
            <a:ext cx="3343561" cy="666078"/>
          </a:xfrm>
          <a:prstGeom prst="rect">
            <a:avLst/>
          </a:prstGeom>
        </p:spPr>
        <p:txBody>
          <a:bodyPr vert="horz" lIns="91440" tIns="45720" rIns="91440" bIns="45720" rtlCol="0">
            <a:normAutofit/>
          </a:bodyPr>
          <a:lstStyle>
            <a:defPPr>
              <a:defRPr lang="en-US"/>
            </a:defPPr>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1DDBBC5-953C-5EF6-6F43-7E99CA4E4A1F}"/>
              </a:ext>
            </a:extLst>
          </p:cNvPr>
          <p:cNvPicPr>
            <a:picLocks noChangeAspect="1"/>
          </p:cNvPicPr>
          <p:nvPr/>
        </p:nvPicPr>
        <p:blipFill>
          <a:blip r:embed="rId4"/>
          <a:stretch>
            <a:fillRect/>
          </a:stretch>
        </p:blipFill>
        <p:spPr>
          <a:xfrm>
            <a:off x="5417344" y="448628"/>
            <a:ext cx="2971800" cy="1853729"/>
          </a:xfrm>
          <a:prstGeom prst="rect">
            <a:avLst/>
          </a:prstGeom>
        </p:spPr>
      </p:pic>
      <p:pic>
        <p:nvPicPr>
          <p:cNvPr id="6" name="Picture 5">
            <a:extLst>
              <a:ext uri="{FF2B5EF4-FFF2-40B4-BE49-F238E27FC236}">
                <a16:creationId xmlns:a16="http://schemas.microsoft.com/office/drawing/2014/main" id="{67A6A4C5-3F75-93A5-7EF6-7CD8E61234E4}"/>
              </a:ext>
            </a:extLst>
          </p:cNvPr>
          <p:cNvPicPr>
            <a:picLocks noChangeAspect="1"/>
          </p:cNvPicPr>
          <p:nvPr/>
        </p:nvPicPr>
        <p:blipFill>
          <a:blip r:embed="rId5"/>
          <a:stretch>
            <a:fillRect/>
          </a:stretch>
        </p:blipFill>
        <p:spPr>
          <a:xfrm>
            <a:off x="8572023" y="448628"/>
            <a:ext cx="2971800" cy="1853729"/>
          </a:xfrm>
          <a:prstGeom prst="rect">
            <a:avLst/>
          </a:prstGeom>
        </p:spPr>
      </p:pic>
      <p:pic>
        <p:nvPicPr>
          <p:cNvPr id="11" name="Picture 10">
            <a:extLst>
              <a:ext uri="{FF2B5EF4-FFF2-40B4-BE49-F238E27FC236}">
                <a16:creationId xmlns:a16="http://schemas.microsoft.com/office/drawing/2014/main" id="{8CDFFEC9-879E-9A90-CEB7-C62D0DBEC29D}"/>
              </a:ext>
            </a:extLst>
          </p:cNvPr>
          <p:cNvPicPr>
            <a:picLocks noChangeAspect="1"/>
          </p:cNvPicPr>
          <p:nvPr/>
        </p:nvPicPr>
        <p:blipFill>
          <a:blip r:embed="rId6"/>
          <a:stretch>
            <a:fillRect/>
          </a:stretch>
        </p:blipFill>
        <p:spPr>
          <a:xfrm>
            <a:off x="5417344" y="3008947"/>
            <a:ext cx="6126480" cy="3368546"/>
          </a:xfrm>
          <a:prstGeom prst="rect">
            <a:avLst/>
          </a:prstGeom>
        </p:spPr>
      </p:pic>
      <p:sp>
        <p:nvSpPr>
          <p:cNvPr id="12" name="TextBox 33">
            <a:extLst>
              <a:ext uri="{FF2B5EF4-FFF2-40B4-BE49-F238E27FC236}">
                <a16:creationId xmlns:a16="http://schemas.microsoft.com/office/drawing/2014/main" id="{83CF8A1C-FD8F-8571-6513-11B5A9FE297D}"/>
              </a:ext>
            </a:extLst>
          </p:cNvPr>
          <p:cNvSpPr txBox="1"/>
          <p:nvPr/>
        </p:nvSpPr>
        <p:spPr>
          <a:xfrm>
            <a:off x="714089" y="5071110"/>
            <a:ext cx="2560320" cy="365760"/>
          </a:xfrm>
          <a:prstGeom prst="rect">
            <a:avLst/>
          </a:prstGeom>
          <a:noFill/>
        </p:spPr>
        <p:txBody>
          <a:bodyPr wrap="squar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600" b="1">
                <a:solidFill>
                  <a:srgbClr val="18183A"/>
                </a:solidFill>
                <a:latin typeface="Aptos"/>
              </a:rPr>
              <a:t>Category averages</a:t>
            </a:r>
          </a:p>
        </p:txBody>
      </p:sp>
      <p:sp>
        <p:nvSpPr>
          <p:cNvPr id="13" name="TextBox 34">
            <a:extLst>
              <a:ext uri="{FF2B5EF4-FFF2-40B4-BE49-F238E27FC236}">
                <a16:creationId xmlns:a16="http://schemas.microsoft.com/office/drawing/2014/main" id="{0B8379A3-BEA2-EA7E-2F8B-122FFF699D7D}"/>
              </a:ext>
            </a:extLst>
          </p:cNvPr>
          <p:cNvSpPr txBox="1"/>
          <p:nvPr/>
        </p:nvSpPr>
        <p:spPr>
          <a:xfrm>
            <a:off x="714089" y="5436870"/>
            <a:ext cx="3794760" cy="502920"/>
          </a:xfrm>
          <a:prstGeom prst="rect">
            <a:avLst/>
          </a:prstGeom>
          <a:noFill/>
        </p:spPr>
        <p:txBody>
          <a:bodyPr wrap="squar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300" b="0">
                <a:solidFill>
                  <a:srgbClr val="18183A"/>
                </a:solidFill>
                <a:latin typeface="Aptos"/>
              </a:rPr>
              <a:t>Automatic: ₹9.07 lakh  |  Manual: ₹3.92 lakh</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444406" y="564356"/>
            <a:ext cx="3303282"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 name="TextBox 46">
            <a:extLst>
              <a:ext uri="{FF2B5EF4-FFF2-40B4-BE49-F238E27FC236}">
                <a16:creationId xmlns:a16="http://schemas.microsoft.com/office/drawing/2014/main" id="{EBE64411-AE27-6BAD-7169-5786C108A0DC}"/>
              </a:ext>
            </a:extLst>
          </p:cNvPr>
          <p:cNvSpPr txBox="1"/>
          <p:nvPr/>
        </p:nvSpPr>
        <p:spPr>
          <a:xfrm>
            <a:off x="4167187" y="4431030"/>
            <a:ext cx="3873818" cy="412016"/>
          </a:xfrm>
          <a:prstGeom prst="rect">
            <a:avLst/>
          </a:prstGeom>
          <a:noFill/>
        </p:spPr>
        <p:txBody>
          <a:bodyPr wrap="squar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a:solidFill>
                  <a:srgbClr val="18183A"/>
                </a:solidFill>
                <a:latin typeface="Aptos"/>
              </a:rPr>
              <a:t>MEESALA CHINNA REDDAIAH</a:t>
            </a:r>
          </a:p>
        </p:txBody>
      </p:sp>
      <p:sp>
        <p:nvSpPr>
          <p:cNvPr id="4" name="TextBox 47">
            <a:extLst>
              <a:ext uri="{FF2B5EF4-FFF2-40B4-BE49-F238E27FC236}">
                <a16:creationId xmlns:a16="http://schemas.microsoft.com/office/drawing/2014/main" id="{C4B94EDB-82BF-EFB1-6C8B-26000696E72A}"/>
              </a:ext>
            </a:extLst>
          </p:cNvPr>
          <p:cNvSpPr txBox="1"/>
          <p:nvPr/>
        </p:nvSpPr>
        <p:spPr>
          <a:xfrm>
            <a:off x="4122658" y="5043678"/>
            <a:ext cx="3964544" cy="307777"/>
          </a:xfrm>
          <a:prstGeom prst="rect">
            <a:avLst/>
          </a:prstGeom>
          <a:noFill/>
        </p:spPr>
        <p:txBody>
          <a:bodyPr wrap="squar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400" b="0">
                <a:solidFill>
                  <a:srgbClr val="18183A"/>
                </a:solidFill>
                <a:latin typeface="Aptos"/>
              </a:rPr>
              <a:t>Car Market Trends Analysis with Car Dekho Data</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31">
                                            <p:txEl>
                                              <p:pRg st="0" end="0"/>
                                            </p:txEl>
                                          </p:spTgt>
                                        </p:tgtEl>
                                        <p:attrNameLst>
                                          <p:attrName>style.visibility</p:attrName>
                                        </p:attrNameLst>
                                      </p:cBhvr>
                                      <p:to>
                                        <p:strVal val="visible"/>
                                      </p:to>
                                    </p:set>
                                    <p:anim calcmode="lin" valueType="num">
                                      <p:cBhvr additive="base">
                                        <p:cTn id="14"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5" dur="500"/>
                                        <p:tgtEl>
                                          <p:spTgt spid="31">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30"/>
                                        </p:tgtEl>
                                        <p:attrNameLst>
                                          <p:attrName>style.visibility</p:attrName>
                                        </p:attrNameLst>
                                      </p:cBhvr>
                                      <p:to>
                                        <p:strVal val="visible"/>
                                      </p:to>
                                    </p:set>
                                    <p:anim calcmode="lin" valueType="num">
                                      <p:cBhvr additive="base">
                                        <p:cTn id="20" dur="500"/>
                                        <p:tgtEl>
                                          <p:spTgt spid="30"/>
                                        </p:tgtEl>
                                        <p:attrNameLst>
                                          <p:attrName>ppt_y</p:attrName>
                                        </p:attrNameLst>
                                      </p:cBhvr>
                                      <p:tavLst>
                                        <p:tav tm="0">
                                          <p:val>
                                            <p:strVal val="#ppt_y+#ppt_h*1.125000"/>
                                          </p:val>
                                        </p:tav>
                                        <p:tav tm="100000">
                                          <p:val>
                                            <p:strVal val="#ppt_y"/>
                                          </p:val>
                                        </p:tav>
                                      </p:tavLst>
                                    </p:anim>
                                    <p:animEffect transition="in" filter="wipe(up)">
                                      <p:cBhvr>
                                        <p:cTn id="21" dur="500"/>
                                        <p:tgtEl>
                                          <p:spTgt spid="3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3"/>
                                        </p:tgtEl>
                                        <p:attrNameLst>
                                          <p:attrName>style.visibility</p:attrName>
                                        </p:attrNameLst>
                                      </p:cBhvr>
                                      <p:to>
                                        <p:strVal val="visible"/>
                                      </p:to>
                                    </p:set>
                                    <p:anim calcmode="lin" valueType="num">
                                      <p:cBhvr additive="base">
                                        <p:cTn id="26" dur="500"/>
                                        <p:tgtEl>
                                          <p:spTgt spid="23"/>
                                        </p:tgtEl>
                                        <p:attrNameLst>
                                          <p:attrName>ppt_y</p:attrName>
                                        </p:attrNameLst>
                                      </p:cBhvr>
                                      <p:tavLst>
                                        <p:tav tm="0">
                                          <p:val>
                                            <p:strVal val="#ppt_y+#ppt_h*1.125000"/>
                                          </p:val>
                                        </p:tav>
                                        <p:tav tm="100000">
                                          <p:val>
                                            <p:strVal val="#ppt_y"/>
                                          </p:val>
                                        </p:tav>
                                      </p:tavLst>
                                    </p:anim>
                                    <p:animEffect transition="in" filter="wipe(up)">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anim calcmode="lin" valueType="num">
                                      <p:cBhvr additive="base">
                                        <p:cTn id="32" dur="500"/>
                                        <p:tgtEl>
                                          <p:spTgt spid="32"/>
                                        </p:tgtEl>
                                        <p:attrNameLst>
                                          <p:attrName>ppt_y</p:attrName>
                                        </p:attrNameLst>
                                      </p:cBhvr>
                                      <p:tavLst>
                                        <p:tav tm="0">
                                          <p:val>
                                            <p:strVal val="#ppt_y+#ppt_h*1.125000"/>
                                          </p:val>
                                        </p:tav>
                                        <p:tav tm="100000">
                                          <p:val>
                                            <p:strVal val="#ppt_y"/>
                                          </p:val>
                                        </p:tav>
                                      </p:tavLst>
                                    </p:anim>
                                    <p:animEffect transition="in" filter="wipe(up)">
                                      <p:cBhvr>
                                        <p:cTn id="3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552</TotalTime>
  <Words>62</Words>
  <Application>Microsoft Office PowerPoint</Application>
  <PresentationFormat>Widescreen</PresentationFormat>
  <Paragraphs>17</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Facet</vt:lpstr>
      <vt:lpstr>Project Title - Car Market Trends Analysis with Car Dekho Data</vt:lpstr>
      <vt:lpstr>PROBLEM  STATEMENT</vt:lpstr>
      <vt:lpstr>Project Description  The project uses Python to clean, explore and visualize the supplied Car Dekho CSV dataset. Duplicate records are removed, data quality is checked, and derived measures are created to support resale-price analysis. </vt:lpstr>
      <vt:lpstr>WHO ARE THE END USERS?</vt:lpstr>
      <vt:lpstr>Technology Used</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220</cp:revision>
  <dcterms:created xsi:type="dcterms:W3CDTF">2021-07-11T13:13:15Z</dcterms:created>
  <dcterms:modified xsi:type="dcterms:W3CDTF">2026-09-07T17:10:29Z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